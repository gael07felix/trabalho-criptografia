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abertura. Apresentar o grupo, o tema e o objetivo: compreender criptografia, hash e assinatura digital com demonstrações interativas.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explicar rapidamente confidencialidade, integridade e autenticidade. Diferenciar: criptografia protege o conteúdo; hash detecta alterações; assinatura digital comprova autoria e integridade.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Gael Felix — explicar as escolhas: HTML/CSS/JS para telas; Node.js para executar JavaScript no servidor; Express para criar o servidor, receber requisições e organizar rotas; crypto para AES, RSA, SHA-256 e assinaturas; node-forge porque o crypto valida, mas não cria certificados X.509.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Bertero — mesma chave para cifrar e decifrar. AES-256 indica chave de 256 bits; GCM adiciona autenticação e detecta alterações. Vantagem: velocidade. Desafio: distribuição segura da 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Bertero — mostrar na aplicação: geração da chave, cifragem e decifragem. Explicar que IV e tag não precisam ser secretos. Demonstrar que uma chave errada ou uma alteração no pacote faz a autenticação falhar.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explicar chave pública e privada. A Alice cifra com a pública do Bob; somente a privada correspondente decifra. OAEP adiciona aleatoriedade. O espião não decifra com a chave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destacar que RSA é mais lento e limitado a mensagens pequenas. Por isso sistemas reais cifram os dados com AES e usam RSA apenas para proteger a chave AES.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hash recebe qualquer conteúdo e produz resumo fixo. SHA-256 gera 256 bits. Mesma entrada gera o mesmo hash; uma alteração mínima causa efeito avalanche. Reforçar que hash não usa chave e não é reversível.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Francisco — demonstrar as duas telas exigidas: gerar e verificar. Usar o último hash gerado e alterar uma letra para mostrar a falha. Explicar que hash sozinho garante integridade, mas não autoria.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a Alice assina o hash do conteúdo com sua chave privada. Bob verifica usando a chave pública. A assinatura garante integridade, autenticidade e não repúdio, mas não esconde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explicar que uma chave pública isolada não prova identidade. O projeto simula uma AC Raiz, cria certificados X.509 com node-forge e verifica emissão, validade e assinatura com o crypto do Node. Mostrar que alterar o arquivo ou usar certificado falso invalida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Gabriel — concluir que os requisitos foram atendidos: criptografia simétrica e assimétrica, hash gerado e verificado em telas diferentes, assinatura e verificação de arquivo e explicação da geração das chaves e do certificado.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IFSP - Projetos\Trabalho Criptografia - Segurança da Informação\public\images\hero-apresentacao-criptografia-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A07">
              <a:alpha val="62000"/>
            </a:srgbClr>
          </a:solidFill>
          <a:ln w="12700">
            <a:solidFill>
              <a:srgbClr val="020A0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20A07">
              <a:alpha val="92000"/>
            </a:srgbClr>
          </a:solidFill>
          <a:ln w="12700">
            <a:solidFill>
              <a:srgbClr val="020A07">
                <a:alpha val="0"/>
              </a:srgbClr>
            </a:solidFill>
            <a:prstDash val="solid"/>
          </a:ln>
        </p:spPr>
      </p:sp>
      <p:pic>
        <p:nvPicPr>
          <p:cNvPr id="5" name="Image 1" descr="C:\IFSP - Projetos\Trabalho Criptografia - Segurança da Informação\public\images\logo-ifsp-cubatao-transpar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438912"/>
            <a:ext cx="1874520" cy="6766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656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10" kern="0" dirty="0">
                <a:solidFill>
                  <a:srgbClr val="43E58F"/>
                </a:solidFill>
              </a:rPr>
              <a:t>SEGURANÇA DA INFORMAÇÃO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58368" y="1847088"/>
            <a:ext cx="6217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Criptografia, hash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assinatura digital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94944" y="368503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3DC"/>
                </a:solidFill>
              </a:rPr>
              <a:t>Como proteger dados, verificar integridade e comprovar autoria por meio de aplicações interativas.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" y="464515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472287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A07"/>
                </a:solidFill>
              </a:rPr>
              <a:t>APRESENTAÇÃO · 15 MIN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4944" y="59984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8F6"/>
                </a:solidFill>
              </a:rPr>
              <a:t>Gael Felix  ·  Guilherme Bertero  ·  Guilherme Francisco  ·  João Gabriel</a:t>
            </a:r>
            <a:endParaRPr lang="en-US" sz="100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CONCEITOS ESSENCIAIS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Gael Felix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02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850136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O QUE PRECISAMOS PROTEGER?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objetivos orientam todo o projeto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Cada técnica responde a uma necessidade diferente da segurança da informação.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212848"/>
            <a:ext cx="3749040" cy="3685032"/>
          </a:xfrm>
          <a:prstGeom prst="roundRect">
            <a:avLst>
              <a:gd name="adj" fmla="val 2481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conceitos-seguranca-inform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267712"/>
            <a:ext cx="3639312" cy="3575304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4645152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46320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846320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Confidencialidade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846320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Somente pessoas autorizadas conseguem compreender o conteúdo.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967728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68896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68896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02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168896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Integridade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168896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Qualquer alteração na mensagem ou no arquivo pode ser identificada.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9290304" y="2212848"/>
            <a:ext cx="2176272" cy="3685032"/>
          </a:xfrm>
          <a:prstGeom prst="roundRect">
            <a:avLst>
              <a:gd name="adj" fmla="val 3782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491472" y="24140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491472" y="25100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03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9491472" y="30175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Autenticidade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491472" y="3419856"/>
            <a:ext cx="17739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 origem do conteúdo e a identidade do autor podem ser confirmadas.</a:t>
            </a:r>
            <a:endParaRPr lang="en-US" sz="11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1" grpId="0"/>
      <p:bldP spid="46" grpId="0"/>
      <p:bldP spid="51" grpId="0"/>
      <p:bldP spid="40" grpId="0"/>
      <p:bldP spid="42" grpId="0"/>
      <p:bldP spid="47" grpId="0"/>
      <p:bldP spid="52" grpId="0"/>
      <p:bldP spid="43" grpId="0"/>
      <p:bldP spid="48" grpId="0"/>
      <p:bldP spid="53" grpId="0"/>
      <p:bldP spid="44" grpId="0"/>
      <p:bldP spid="49" grpId="0"/>
      <p:bldP spid="54" grpId="0"/>
      <p:bldP spid="45" grpId="0"/>
      <p:bldP spid="50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CONSTRUÇÃO DA APLICAÇÃO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Gael Felix · 1min10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03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2775204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POR QUE ESSAS TECNOLOGIAS?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arquitetura simples, didática e confiável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interface explica o processo; o servidor executa as operações criptográficas.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HTML · CSS · JS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960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Interfaces interativas executadas diretamente no navegador.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84448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Node.js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584448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JavaScript também no servidor, mantendo uma única linguagem no projeto.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44768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5936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03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45936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Express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45936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Recebe requisições, organiza as rotas da API e devolve os resultados.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906256" y="23317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07424" y="25328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07424" y="26289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07424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crypto + node-forge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07424" y="3538728"/>
            <a:ext cx="2176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Algoritmos nativos confiáveis e criação de certificados X.509.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69264" y="5513832"/>
            <a:ext cx="10204704" cy="502920"/>
          </a:xfrm>
          <a:prstGeom prst="roundRect">
            <a:avLst>
              <a:gd name="adj" fmla="val 14545"/>
            </a:avLst>
          </a:prstGeom>
          <a:solidFill>
            <a:srgbClr val="0A1C15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70432" y="56967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NAVEGADOR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322576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788920" y="56967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60"/>
                </a:solidFill>
              </a:rPr>
              <a:t>EXPRESS / API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069080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507992" y="569671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89FF"/>
                </a:solidFill>
              </a:rPr>
              <a:t>LÓGICA CRIPTOGRÁFICA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56248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004304" y="56967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A5FF"/>
                </a:solidFill>
              </a:rPr>
              <a:t>RESULTADO EM JSON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750808" y="5614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6D"/>
                </a:solidFill>
              </a:rPr>
              <a:t>→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217152" y="569671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TELA ATUALIZADA</a:t>
            </a:r>
            <a:endParaRPr lang="en-US" sz="8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4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7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3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4" grpId="0"/>
      <p:bldP spid="49" grpId="0"/>
      <p:bldP spid="54" grpId="0"/>
      <p:bldP spid="40" grpId="0"/>
      <p:bldP spid="45" grpId="0"/>
      <p:bldP spid="50" grpId="0"/>
      <p:bldP spid="55" grpId="0"/>
      <p:bldP spid="41" grpId="0"/>
      <p:bldP spid="46" grpId="0"/>
      <p:bldP spid="51" grpId="0"/>
      <p:bldP spid="56" grpId="0"/>
      <p:bldP spid="42" grpId="0"/>
      <p:bldP spid="47" grpId="0"/>
      <p:bldP spid="52" grpId="0"/>
      <p:bldP spid="57" grpId="0"/>
      <p:bldP spid="43" grpId="0"/>
      <p:bldP spid="48" grpId="0"/>
      <p:bldP spid="53" grpId="0"/>
      <p:bldP spid="58" grpId="0"/>
      <p:bldP spid="61" grpId="0"/>
      <p:bldP spid="63" grpId="0"/>
      <p:bldP spid="65" grpId="0"/>
      <p:bldP spid="67" grpId="0"/>
      <p:bldP spid="60" grpId="0"/>
      <p:bldP spid="62" grpId="0"/>
      <p:bldP spid="64" grpId="0"/>
      <p:bldP spid="66" grpId="0"/>
      <p:bldP spid="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Bertero · 1min35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04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3700272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AES-256-GCM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chave para cifrar e decifrar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21792" y="16367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BB2"/>
                </a:solidFill>
              </a:rPr>
              <a:t>Rápida para grandes volumes, mas exige que a chave secreta seja compartilhada com segurança.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532120" y="658368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criptografia-simetr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713232"/>
            <a:ext cx="592531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40080" y="2514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3232" y="2592324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A07"/>
                </a:solidFill>
              </a:rPr>
              <a:t>MESMA CHAVE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58368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Alice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658368" y="3429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mensagem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87452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E58F"/>
                </a:solidFill>
              </a:rPr>
              <a:t>→</a:t>
            </a:r>
            <a:endParaRPr lang="en-US" sz="2200" dirty="0"/>
          </a:p>
        </p:txBody>
      </p:sp>
      <p:sp>
        <p:nvSpPr>
          <p:cNvPr id="46" name="Shape 43"/>
          <p:cNvSpPr/>
          <p:nvPr/>
        </p:nvSpPr>
        <p:spPr>
          <a:xfrm>
            <a:off x="2514600" y="2834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122E23"/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14600" y="30449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E58F"/>
                </a:solidFill>
              </a:rPr>
              <a:t>AES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384048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E58F"/>
                </a:solidFill>
              </a:rPr>
              <a:t>→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4507992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Bob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4279392" y="34290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mensagem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008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6809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6809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Combinar chave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341757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54558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54558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Cifrar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619506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2307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03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32307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Transmitir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8972550" y="5084064"/>
            <a:ext cx="259461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100566" y="523036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E58F"/>
                </a:solidFill>
              </a:rPr>
              <a:t>04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9100566" y="5440680"/>
            <a:ext cx="23385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Decifrar</a:t>
            </a:r>
            <a:endParaRPr lang="en-US" sz="10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4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7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9" grpId="0"/>
      <p:bldP spid="40" grpId="0"/>
      <p:bldP spid="37" grpId="0"/>
      <p:bldP spid="38" grpId="0"/>
      <p:bldP spid="41" grpId="0"/>
      <p:bldP spid="42" grpId="0"/>
      <p:bldP spid="46" grpId="0"/>
      <p:bldP spid="47" grpId="0"/>
      <p:bldP spid="43" grpId="0"/>
      <p:bldP spid="49" grpId="0"/>
      <p:bldP spid="45" grpId="0"/>
      <p:bldP spid="48" grpId="0"/>
      <p:bldP spid="44" grpId="0"/>
      <p:bldP spid="50" grpId="0"/>
      <p:bldP spid="51" grpId="0"/>
      <p:bldP spid="54" grpId="0"/>
      <p:bldP spid="57" grpId="0"/>
      <p:bldP spid="60" grpId="0"/>
      <p:bldP spid="52" grpId="0"/>
      <p:bldP spid="55" grpId="0"/>
      <p:bldP spid="58" grpId="0"/>
      <p:bldP spid="61" grpId="0"/>
      <p:bldP spid="53" grpId="0"/>
      <p:bldP spid="56" grpId="0"/>
      <p:bldP spid="59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Bertero · 1min50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05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4625340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DEMONSTRAÇÃO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pacote cifrado possui três partes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Apenas a chave é secreta. O IV e a tag acompanham o texto cifrado.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simetrica-passo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437083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2" name="Image 1" descr="C:\IFSP - Projetos\Trabalho Criptografia - Segurança da Informação\public\images\simetrica-passo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569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3" name="Shape 39"/>
          <p:cNvSpPr/>
          <p:nvPr/>
        </p:nvSpPr>
        <p:spPr>
          <a:xfrm>
            <a:off x="8119872" y="2130552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4" name="Image 2" descr="C:\IFSP - Projetos\Trabalho Criptografia - Segurança da Informação\public\images\simetrica-passo-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4736" y="2185416"/>
            <a:ext cx="3319272" cy="213055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5" name="Shape 40"/>
          <p:cNvSpPr/>
          <p:nvPr/>
        </p:nvSpPr>
        <p:spPr>
          <a:xfrm>
            <a:off x="62179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2296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K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2296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Chave · 256 bits</a:t>
            </a:r>
            <a:endParaRPr lang="en-US" sz="1600" dirty="0"/>
          </a:p>
        </p:txBody>
      </p:sp>
      <p:sp>
        <p:nvSpPr>
          <p:cNvPr id="49" name="Text 44"/>
          <p:cNvSpPr/>
          <p:nvPr/>
        </p:nvSpPr>
        <p:spPr>
          <a:xfrm>
            <a:off x="82296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Secreta. Cifra e decifra.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437083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57200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57200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IV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457200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IV · 96 bits</a:t>
            </a:r>
            <a:endParaRPr lang="en-US" sz="1600" dirty="0"/>
          </a:p>
        </p:txBody>
      </p:sp>
      <p:sp>
        <p:nvSpPr>
          <p:cNvPr id="54" name="Text 49"/>
          <p:cNvSpPr/>
          <p:nvPr/>
        </p:nvSpPr>
        <p:spPr>
          <a:xfrm>
            <a:off x="457200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Aleatório. Evita resultados repetidos.</a:t>
            </a:r>
            <a:endParaRPr lang="en-US" sz="1150" dirty="0"/>
          </a:p>
        </p:txBody>
      </p:sp>
      <p:sp>
        <p:nvSpPr>
          <p:cNvPr id="55" name="Shape 50"/>
          <p:cNvSpPr/>
          <p:nvPr/>
        </p:nvSpPr>
        <p:spPr>
          <a:xfrm>
            <a:off x="8119872" y="4599432"/>
            <a:ext cx="3429000" cy="1307592"/>
          </a:xfrm>
          <a:prstGeom prst="roundRect">
            <a:avLst>
              <a:gd name="adj" fmla="val 6294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321040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321040" y="48966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T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8321040" y="540410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Tag · 128 bits</a:t>
            </a:r>
            <a:endParaRPr lang="en-US" sz="1600" dirty="0"/>
          </a:p>
        </p:txBody>
      </p:sp>
      <p:sp>
        <p:nvSpPr>
          <p:cNvPr id="59" name="Text 54"/>
          <p:cNvSpPr/>
          <p:nvPr/>
        </p:nvSpPr>
        <p:spPr>
          <a:xfrm>
            <a:off x="8321040" y="5806440"/>
            <a:ext cx="302666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Detecta chave errada ou conteúdo alterado.</a:t>
            </a:r>
            <a:endParaRPr lang="en-US" sz="11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4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1" grpId="0"/>
      <p:bldP spid="43" grpId="0"/>
      <p:bldP spid="40" grpId="0"/>
      <p:bldP spid="42" grpId="0"/>
      <p:bldP spid="44" grpId="0"/>
      <p:bldP spid="45" grpId="0"/>
      <p:bldP spid="50" grpId="0"/>
      <p:bldP spid="55" grpId="0"/>
      <p:bldP spid="46" grpId="0"/>
      <p:bldP spid="51" grpId="0"/>
      <p:bldP spid="56" grpId="0"/>
      <p:bldP spid="47" grpId="0"/>
      <p:bldP spid="52" grpId="0"/>
      <p:bldP spid="57" grpId="0"/>
      <p:bldP spid="48" grpId="0"/>
      <p:bldP spid="53" grpId="0"/>
      <p:bldP spid="58" grpId="0"/>
      <p:bldP spid="49" grpId="0"/>
      <p:bldP spid="54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ASSIMÉTRICA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06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5550408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640080"/>
            <a:ext cx="5925312" cy="4206240"/>
          </a:xfrm>
          <a:prstGeom prst="roundRect">
            <a:avLst>
              <a:gd name="adj" fmla="val 2174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37" name="Image 0" descr="C:\IFSP - Projetos\Trabalho Criptografia - Segurança da Informação\public\images\fluxo-criptografia-assimetr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78424" y="694944"/>
            <a:ext cx="5815584" cy="409651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621792" y="603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RSA-2048 + OAEP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1792" y="9144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Duas chaves, funções diferentes</a:t>
            </a:r>
            <a:endParaRPr lang="en-US" sz="2800" dirty="0"/>
          </a:p>
        </p:txBody>
      </p:sp>
      <p:sp>
        <p:nvSpPr>
          <p:cNvPr id="40" name="Text 37"/>
          <p:cNvSpPr/>
          <p:nvPr/>
        </p:nvSpPr>
        <p:spPr>
          <a:xfrm>
            <a:off x="621792" y="17007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pública pode ser compartilhada. A privada permanece somente com o proprietário.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58368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61A5FF">
              <a:alpha val="17000"/>
            </a:srgbClr>
          </a:solidFill>
          <a:ln w="15240">
            <a:solidFill>
              <a:srgbClr val="61A5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1248" y="2999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CHAVE PÚBLICA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41248" y="3410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cifra</a:t>
            </a:r>
            <a:endParaRPr lang="en-US" sz="1900" dirty="0"/>
          </a:p>
        </p:txBody>
      </p:sp>
      <p:sp>
        <p:nvSpPr>
          <p:cNvPr id="44" name="Shape 41"/>
          <p:cNvSpPr/>
          <p:nvPr/>
        </p:nvSpPr>
        <p:spPr>
          <a:xfrm>
            <a:off x="3090672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B989FF">
              <a:alpha val="17000"/>
            </a:srgbClr>
          </a:solidFill>
          <a:ln w="15240">
            <a:solidFill>
              <a:srgbClr val="B989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73552" y="2999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CHAVE PRIVADA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273552" y="3410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6"/>
                </a:solidFill>
              </a:rPr>
              <a:t>decifra</a:t>
            </a:r>
            <a:endParaRPr lang="en-US" sz="1900" dirty="0"/>
          </a:p>
        </p:txBody>
      </p:sp>
      <p:sp>
        <p:nvSpPr>
          <p:cNvPr id="47" name="Shape 44"/>
          <p:cNvSpPr/>
          <p:nvPr/>
        </p:nvSpPr>
        <p:spPr>
          <a:xfrm>
            <a:off x="658368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6384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01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86384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Gerar par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3426714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554730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554730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Publicar chave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95060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23076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03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323076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Alice cifra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8963406" y="5074920"/>
            <a:ext cx="2585466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091422" y="5221224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A5FF"/>
                </a:solidFill>
              </a:rPr>
              <a:t>04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9091422" y="5431536"/>
            <a:ext cx="232943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Bob decifra</a:t>
            </a:r>
            <a:endParaRPr lang="en-US" sz="10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  <p:bldP spid="36" grpId="0"/>
      <p:bldP spid="37" grpId="0"/>
      <p:bldP spid="39" grpId="0"/>
      <p:bldP spid="40" grpId="0"/>
      <p:bldP spid="41" grpId="0"/>
      <p:bldP spid="44" grpId="0"/>
      <p:bldP spid="42" grpId="0"/>
      <p:bldP spid="45" grpId="0"/>
      <p:bldP spid="43" grpId="0"/>
      <p:bldP spid="46" grpId="0"/>
      <p:bldP spid="47" grpId="0"/>
      <p:bldP spid="50" grpId="0"/>
      <p:bldP spid="53" grpId="0"/>
      <p:bldP spid="56" grpId="0"/>
      <p:bldP spid="48" grpId="0"/>
      <p:bldP spid="51" grpId="0"/>
      <p:bldP spid="54" grpId="0"/>
      <p:bldP spid="57" grpId="0"/>
      <p:bldP spid="49" grpId="0"/>
      <p:bldP spid="52" grpId="0"/>
      <p:bldP spid="55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1A5FF"/>
          </a:solidFill>
          <a:ln w="12700">
            <a:solidFill>
              <a:srgbClr val="61A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61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 ASSIMÉTRICA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45s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07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6475476" cy="0"/>
          </a:xfrm>
          <a:prstGeom prst="line">
            <a:avLst/>
          </a:prstGeom>
          <a:noFill/>
          <a:ln w="19050">
            <a:solidFill>
              <a:srgbClr val="61A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1A5FF"/>
                </a:solidFill>
              </a:rPr>
              <a:t>USO REAL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RSA e AES trabalham juntos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criptografia híbrida reúne a velocidade do AES e a distribuição segura de chaves do RSA.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6968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86968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Gerar chave AES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6968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Uma chave aleatória e rápida.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054096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3511296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12464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12464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12464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Cifrar os dados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712464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AES protege arquivos de qualquer tamanho.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879592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336792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37960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03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Proteger a chave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37960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RSA cifra apenas a chave AES.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705088" y="3456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76D"/>
                </a:solidFill>
              </a:rPr>
              <a:t>→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9162288" y="2395728"/>
            <a:ext cx="2331720" cy="2487168"/>
          </a:xfrm>
          <a:prstGeom prst="roundRect">
            <a:avLst>
              <a:gd name="adj" fmla="val 3529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63456" y="2596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63456" y="26929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04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63456" y="320040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Recuperar e abrir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363456" y="3602736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Bob usa sua privada e depois o AES.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148840" y="5230368"/>
            <a:ext cx="7882128" cy="512064"/>
          </a:xfrm>
          <a:prstGeom prst="roundRect">
            <a:avLst>
              <a:gd name="adj" fmla="val 14286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31720" y="5413248"/>
            <a:ext cx="7516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</a:rPr>
              <a:t>HTTPS  ·  PGP  ·  aplicativos de mensagem</a:t>
            </a:r>
            <a:endParaRPr lang="en-US" sz="110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4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7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5" grpId="0"/>
      <p:bldP spid="51" grpId="0"/>
      <p:bldP spid="57" grpId="0"/>
      <p:bldP spid="40" grpId="0"/>
      <p:bldP spid="46" grpId="0"/>
      <p:bldP spid="52" grpId="0"/>
      <p:bldP spid="58" grpId="0"/>
      <p:bldP spid="41" grpId="0"/>
      <p:bldP spid="47" grpId="0"/>
      <p:bldP spid="53" grpId="0"/>
      <p:bldP spid="59" grpId="0"/>
      <p:bldP spid="42" grpId="0"/>
      <p:bldP spid="48" grpId="0"/>
      <p:bldP spid="54" grpId="0"/>
      <p:bldP spid="60" grpId="0"/>
      <p:bldP spid="44" grpId="0"/>
      <p:bldP spid="50" grpId="0"/>
      <p:bldP spid="56" grpId="0"/>
      <p:bldP spid="43" grpId="0"/>
      <p:bldP spid="49" grpId="0"/>
      <p:bldP spid="55" grpId="0"/>
      <p:bldP spid="61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060"/>
          </a:solidFill>
          <a:ln w="12700">
            <a:solidFill>
              <a:srgbClr val="FFB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FFB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55s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08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7400544" cy="0"/>
          </a:xfrm>
          <a:prstGeom prst="line">
            <a:avLst/>
          </a:prstGeom>
          <a:noFill/>
          <a:ln w="19050">
            <a:solidFill>
              <a:srgbClr val="FFB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FB060"/>
                </a:solidFill>
              </a:rPr>
              <a:t>SHA-256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impressão digital do conteúdo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21792" y="17007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Entradas de qualquer tamanho produzem sempre um resumo de 256 bits — 64 caracteres hexadecimais.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96128" y="64008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gerar-h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94944"/>
            <a:ext cx="583387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58368" y="312724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528" y="3273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Determinístico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95528" y="35570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mesma entrada, mesmo hash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081528" y="312724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18688" y="3273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Mão única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218688" y="35570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não existe “decifrar”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58368" y="413308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5528" y="42793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Efeito avalanche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95528" y="45628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1 bit muda todo o resultado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3081528" y="4133088"/>
            <a:ext cx="2240280" cy="804672"/>
          </a:xfrm>
          <a:prstGeom prst="roundRect">
            <a:avLst>
              <a:gd name="adj" fmla="val 7955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18688" y="42793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60"/>
                </a:solidFill>
              </a:rPr>
              <a:t>Tamanho fixo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3218688" y="45628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BB2"/>
                </a:solidFill>
              </a:rPr>
              <a:t>sempre 256 bits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144768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60"/>
                </a:solidFill>
              </a:rPr>
              <a:t>HASH ≠ CRIPTOGRAFIA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6144768" y="56418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Não usa chave e não é reversível.</a:t>
            </a:r>
            <a:endParaRPr lang="en-US" sz="11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9" grpId="0"/>
      <p:bldP spid="40" grpId="0"/>
      <p:bldP spid="37" grpId="0"/>
      <p:bldP spid="38" grpId="0"/>
      <p:bldP spid="41" grpId="0"/>
      <p:bldP spid="44" grpId="0"/>
      <p:bldP spid="42" grpId="0"/>
      <p:bldP spid="45" grpId="0"/>
      <p:bldP spid="43" grpId="0"/>
      <p:bldP spid="46" grpId="0"/>
      <p:bldP spid="47" grpId="0"/>
      <p:bldP spid="50" grpId="0"/>
      <p:bldP spid="48" grpId="0"/>
      <p:bldP spid="51" grpId="0"/>
      <p:bldP spid="49" grpId="0"/>
      <p:bldP spid="52" grpId="0"/>
      <p:bldP spid="53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B060"/>
          </a:solidFill>
          <a:ln w="12700">
            <a:solidFill>
              <a:srgbClr val="FFB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FFB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Guilherme Francisco · 45s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09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8325612" cy="0"/>
          </a:xfrm>
          <a:prstGeom prst="line">
            <a:avLst/>
          </a:prstGeom>
          <a:noFill/>
          <a:ln w="19050">
            <a:solidFill>
              <a:srgbClr val="FFB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FB060"/>
                </a:solidFill>
              </a:rPr>
              <a:t>INTEGRIDADE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Gerar em uma tela, conferir em outra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O hash esperado é comparado ao hash calculado novamente a partir dos dados recebidos.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214884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verificar-h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2203704"/>
            <a:ext cx="5148072" cy="341071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236208" y="2148840"/>
            <a:ext cx="5303520" cy="1536192"/>
          </a:xfrm>
          <a:prstGeom prst="roundRect">
            <a:avLst>
              <a:gd name="adj" fmla="val 4762"/>
            </a:avLst>
          </a:prstGeom>
          <a:solidFill>
            <a:srgbClr val="43E58F">
              <a:alpha val="15000"/>
            </a:srgbClr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73952" y="24871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E58F"/>
                </a:solidFill>
              </a:rPr>
              <a:t>✓  HASHES IGUAIS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6473952" y="291693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</a:rPr>
              <a:t>O conteúdo recebido permanece íntegro.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36208" y="3913632"/>
            <a:ext cx="5303520" cy="1536192"/>
          </a:xfrm>
          <a:prstGeom prst="roundRect">
            <a:avLst>
              <a:gd name="adj" fmla="val 4762"/>
            </a:avLst>
          </a:prstGeom>
          <a:solidFill>
            <a:srgbClr val="FF6B6B">
              <a:alpha val="13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73952" y="425196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×  HASHES DIFERENTES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473952" y="46817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</a:rPr>
              <a:t>A mensagem ou o arquivo foi modificado.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254496" y="5696712"/>
            <a:ext cx="5257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B2"/>
                </a:solidFill>
              </a:rPr>
              <a:t>Limitação: um atacante pode trocar o arquivo e o hash. Para provar a autoria, usamos assinatura digital.</a:t>
            </a:r>
            <a:endParaRPr lang="en-US" sz="105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1" grpId="0"/>
      <p:bldP spid="40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89FF"/>
          </a:solidFill>
          <a:ln w="12700">
            <a:solidFill>
              <a:srgbClr val="B98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B98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ASSINATURA DIGITAL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1min20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10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9250680" cy="0"/>
          </a:xfrm>
          <a:prstGeom prst="line">
            <a:avLst/>
          </a:prstGeom>
          <a:noFill/>
          <a:ln w="19050">
            <a:solidFill>
              <a:srgbClr val="B98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B989FF"/>
                </a:solidFill>
              </a:rPr>
              <a:t>RSA-PSS + SHA-256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Assinar com a privada. Verificar com a pública.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21792" y="186537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A assinatura combina hash e criptografia assimétrica para comprovar autoria e integridade.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96128" y="64008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40" name="Image 0" descr="C:\IFSP - Projetos\Trabalho Criptografia - Segurança da Informação\public\images\fluxo-assinatura-dig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94944"/>
            <a:ext cx="5833872" cy="4050792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41" name="Shape 38"/>
          <p:cNvSpPr/>
          <p:nvPr/>
        </p:nvSpPr>
        <p:spPr>
          <a:xfrm>
            <a:off x="65836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638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8638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Calcular hash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42442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5244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55244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Assinar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19048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1850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31850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Enviar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956548" y="5065776"/>
            <a:ext cx="2583180" cy="822960"/>
          </a:xfrm>
          <a:prstGeom prst="roundRect">
            <a:avLst>
              <a:gd name="adj" fmla="val 7778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84564" y="521208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04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084564" y="5422392"/>
            <a:ext cx="23271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8F6"/>
                </a:solidFill>
              </a:rPr>
              <a:t>Verificar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58368" y="3474720"/>
            <a:ext cx="4526280" cy="1024128"/>
          </a:xfrm>
          <a:prstGeom prst="roundRect">
            <a:avLst>
              <a:gd name="adj" fmla="val 7143"/>
            </a:avLst>
          </a:prstGeom>
          <a:solidFill>
            <a:srgbClr val="0C241B"/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9536" y="3685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Garante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645920" y="3666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8F6"/>
                </a:solidFill>
              </a:rPr>
              <a:t>integridade  ·  autenticidade  ·  não repúdio</a:t>
            </a:r>
            <a:endParaRPr lang="en-US" sz="1250" dirty="0"/>
          </a:p>
        </p:txBody>
      </p:sp>
      <p:sp>
        <p:nvSpPr>
          <p:cNvPr id="56" name="Text 53"/>
          <p:cNvSpPr/>
          <p:nvPr/>
        </p:nvSpPr>
        <p:spPr>
          <a:xfrm>
            <a:off x="859536" y="40965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BB2"/>
                </a:solidFill>
              </a:rPr>
              <a:t>Não garante sigilo: o conteúdo continua legível.</a:t>
            </a:r>
            <a:endParaRPr lang="en-US" sz="100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9" grpId="0"/>
      <p:bldP spid="40" grpId="0"/>
      <p:bldP spid="37" grpId="0"/>
      <p:bldP spid="38" grpId="0"/>
      <p:bldP spid="53" grpId="0"/>
      <p:bldP spid="55" grpId="0"/>
      <p:bldP spid="54" grpId="0"/>
      <p:bldP spid="56" grpId="0"/>
      <p:bldP spid="41" grpId="0"/>
      <p:bldP spid="44" grpId="0"/>
      <p:bldP spid="47" grpId="0"/>
      <p:bldP spid="50" grpId="0"/>
      <p:bldP spid="42" grpId="0"/>
      <p:bldP spid="45" grpId="0"/>
      <p:bldP spid="48" grpId="0"/>
      <p:bldP spid="51" grpId="0"/>
      <p:bldP spid="43" grpId="0"/>
      <p:bldP spid="46" grpId="0"/>
      <p:bldP spid="49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B989FF"/>
          </a:solidFill>
          <a:ln w="12700">
            <a:solidFill>
              <a:srgbClr val="B98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B98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 DIGITAL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1min45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11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0175748" cy="0"/>
          </a:xfrm>
          <a:prstGeom prst="line">
            <a:avLst/>
          </a:prstGeom>
          <a:noFill/>
          <a:ln w="19050">
            <a:solidFill>
              <a:srgbClr val="B989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658368"/>
            <a:ext cx="5257800" cy="5321808"/>
          </a:xfrm>
          <a:prstGeom prst="roundRect">
            <a:avLst>
              <a:gd name="adj" fmla="val 1739"/>
            </a:avLst>
          </a:prstGeom>
          <a:solidFill>
            <a:srgbClr val="122E23"/>
          </a:solidFill>
          <a:ln w="12700">
            <a:solidFill>
              <a:srgbClr val="24463A"/>
            </a:solidFill>
            <a:prstDash val="solid"/>
          </a:ln>
        </p:spPr>
      </p:sp>
      <p:pic>
        <p:nvPicPr>
          <p:cNvPr id="37" name="Image 0" descr="C:\IFSP - Projetos\Trabalho Criptografia - Segurança da Informação\public\images\assinatura-passo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713232"/>
            <a:ext cx="5148072" cy="5212080"/>
          </a:xfrm>
          <a:prstGeom prst="ellipse">
            <a:avLst/>
          </a:prstGeom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6263640" y="6583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B989FF"/>
                </a:solidFill>
              </a:rPr>
              <a:t>X.509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63640" y="969264"/>
            <a:ext cx="5166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Quem garante que a chave é realmente da Alice?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6263640" y="1883664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7BBB2"/>
                </a:solidFill>
              </a:rPr>
              <a:t>O certificado liga identidade e chave pública. A confiança vem da assinatura da Autoridade Certificadora.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272784" y="2761488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28232" y="2944368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TITULAR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16368" y="2907792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nome, organização e e-mail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272784" y="3429000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28232" y="361188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EMISSOR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516368" y="3575304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Autoridade Certificadora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272784" y="4096512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28232" y="4279392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VALIDADE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516368" y="4242816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período em que o certificado é aceito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272784" y="4764024"/>
            <a:ext cx="5148072" cy="521208"/>
          </a:xfrm>
          <a:prstGeom prst="roundRect">
            <a:avLst>
              <a:gd name="adj" fmla="val 8772"/>
            </a:avLst>
          </a:prstGeom>
          <a:solidFill>
            <a:srgbClr val="0C241B"/>
          </a:solidFill>
          <a:ln w="10160">
            <a:solidFill>
              <a:srgbClr val="2446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28232" y="494690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89FF"/>
                </a:solidFill>
              </a:rPr>
              <a:t>CHAVE PÚBLICA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516368" y="4910328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8F6"/>
                </a:solidFill>
              </a:rPr>
              <a:t>usada para verificar a assinatura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291072" y="55412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E58F"/>
                </a:solidFill>
              </a:rPr>
              <a:t>VERIFICAÇÃO FINAL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635240" y="5504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F8F6"/>
                </a:solidFill>
              </a:rPr>
              <a:t>✓ emitido pela AC   ✓ dentro da validade   ✓ assinatura confere</a:t>
            </a:r>
            <a:endParaRPr lang="en-US" sz="100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8" grpId="0"/>
      <p:bldP spid="37" grpId="0"/>
      <p:bldP spid="39" grpId="0"/>
      <p:bldP spid="40" grpId="0"/>
      <p:bldP spid="41" grpId="0"/>
      <p:bldP spid="43" grpId="0"/>
      <p:bldP spid="42" grpId="0"/>
      <p:bldP spid="44" grpId="0"/>
      <p:bldP spid="46" grpId="0"/>
      <p:bldP spid="45" grpId="0"/>
      <p:bldP spid="47" grpId="0"/>
      <p:bldP spid="49" grpId="0"/>
      <p:bldP spid="48" grpId="0"/>
      <p:bldP spid="50" grpId="0"/>
      <p:bldP spid="52" grpId="0"/>
      <p:bldP spid="51" grpId="0"/>
      <p:bldP spid="54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249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9648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8016" y="0"/>
            <a:ext cx="0" cy="685800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404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4241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0078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5915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675888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334256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92624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650992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09360"/>
            <a:ext cx="12188952" cy="0"/>
          </a:xfrm>
          <a:prstGeom prst="line">
            <a:avLst/>
          </a:prstGeom>
          <a:noFill/>
          <a:ln w="5715">
            <a:solidFill>
              <a:srgbClr val="113026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3E58F"/>
          </a:solidFill>
          <a:ln w="12700">
            <a:solidFill>
              <a:srgbClr val="43E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43E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BBB2"/>
                </a:solidFill>
              </a:rPr>
              <a:t>João Gabriel · 40s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81360" y="6510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BB2"/>
                </a:solidFill>
              </a:rPr>
              <a:t>12 /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8890">
            <a:solidFill>
              <a:srgbClr val="244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6382512"/>
            <a:ext cx="11100816" cy="0"/>
          </a:xfrm>
          <a:prstGeom prst="line">
            <a:avLst/>
          </a:prstGeom>
          <a:noFill/>
          <a:ln w="19050">
            <a:solidFill>
              <a:srgbClr val="43E5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0350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43E58F"/>
                </a:solidFill>
              </a:rPr>
              <a:t>RESULTADO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914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conceito à demonstração prática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621792" y="1609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7BBB2"/>
                </a:solidFill>
              </a:rPr>
              <a:t>O projeto cobre os requisitos da atividade e permite observar sucessos e falhas em cada mecanismo.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3E58F">
              <a:alpha val="16000"/>
            </a:srgbClr>
          </a:solidFill>
          <a:ln w="12700">
            <a:solidFill>
              <a:srgbClr val="43E58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58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AES-256-GCM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2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sigilo + integridade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1A5FF">
              <a:alpha val="16000"/>
            </a:srgbClr>
          </a:solidFill>
          <a:ln w="12700">
            <a:solidFill>
              <a:srgbClr val="61A5FF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A5FF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844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RSA-2048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5844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distribuição segura de chaves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264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B060">
              <a:alpha val="16000"/>
            </a:srgbClr>
          </a:solidFill>
          <a:ln w="12700">
            <a:solidFill>
              <a:srgbClr val="FFB060">
                <a:alpha val="6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60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276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SHA-256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276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verificação de integridade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869680" y="228600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0C241B">
              <a:alpha val="96000"/>
            </a:srgbClr>
          </a:solidFill>
          <a:ln w="12700">
            <a:solidFill>
              <a:srgbClr val="2446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70848" y="24871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989FF">
              <a:alpha val="16000"/>
            </a:srgbClr>
          </a:solidFill>
          <a:ln w="12700">
            <a:solidFill>
              <a:srgbClr val="B989FF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70848" y="25831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9FF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070848" y="3090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</a:rPr>
              <a:t>RSA-PSS + X.509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70848" y="3493008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B2"/>
                </a:solidFill>
              </a:rPr>
              <a:t>autoria + confiança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1325880" y="4892040"/>
            <a:ext cx="9528048" cy="658368"/>
          </a:xfrm>
          <a:prstGeom prst="roundRect">
            <a:avLst>
              <a:gd name="adj" fmla="val 12500"/>
            </a:avLst>
          </a:prstGeom>
          <a:solidFill>
            <a:srgbClr val="43E58F">
              <a:alpha val="18000"/>
            </a:srgbClr>
          </a:solidFill>
          <a:ln w="15240">
            <a:solidFill>
              <a:srgbClr val="43E5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0200" y="5129784"/>
            <a:ext cx="89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6"/>
                </a:solidFill>
              </a:rPr>
              <a:t>Aplicações interativas · testes de alteração · relatório · apresentação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4343400" y="5806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3E5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2500" dirty="0"/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64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38" grpId="0"/>
      <p:bldP spid="39" grpId="0"/>
      <p:bldP spid="44" grpId="0"/>
      <p:bldP spid="49" grpId="0"/>
      <p:bldP spid="54" grpId="0"/>
      <p:bldP spid="40" grpId="0"/>
      <p:bldP spid="45" grpId="0"/>
      <p:bldP spid="50" grpId="0"/>
      <p:bldP spid="55" grpId="0"/>
      <p:bldP spid="41" grpId="0"/>
      <p:bldP spid="46" grpId="0"/>
      <p:bldP spid="51" grpId="0"/>
      <p:bldP spid="56" grpId="0"/>
      <p:bldP spid="42" grpId="0"/>
      <p:bldP spid="47" grpId="0"/>
      <p:bldP spid="52" grpId="0"/>
      <p:bldP spid="57" grpId="0"/>
      <p:bldP spid="43" grpId="0"/>
      <p:bldP spid="48" grpId="0"/>
      <p:bldP spid="53" grpId="0"/>
      <p:bldP spid="58" grpId="0"/>
      <p:bldP spid="60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IFSP — Campus Cubatão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Criptografia, Hash e Assinatura Digital</dc:title>
  <dc:subject>Segurança da Informação</dc:subject>
  <dc:creator>Gael Felix, Guilherme Bertero, Guilherme Francisco e João Gabriel</dc:creator>
  <cp:lastModifiedBy>Gael Felix, Guilherme Bertero, Guilherme Francisco e João Gabriel</cp:lastModifiedBy>
  <cp:revision>1</cp:revision>
  <dcterms:created xsi:type="dcterms:W3CDTF">2026-10-22T20:44:04Z</dcterms:created>
  <dcterms:modified xsi:type="dcterms:W3CDTF">2026-10-22T20:44:04Z</dcterms:modified>
</cp:coreProperties>
</file>